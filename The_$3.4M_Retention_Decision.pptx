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01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0312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2648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3816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149840" y="0"/>
            <a:ext cx="457200" cy="5143500"/>
          </a:xfrm>
          <a:prstGeom prst="rect">
            <a:avLst/>
          </a:prstGeom>
          <a:solidFill>
            <a:srgbClr val="243557">
              <a:alpha val="20000"/>
            </a:srgbClr>
          </a:solidFill>
          <a:ln w="12700">
            <a:solidFill>
              <a:srgbClr val="24355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2743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$3.4M</a:t>
            </a:r>
            <a:endParaRPr lang="en-US" sz="13000" dirty="0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32004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01168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$3.4M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201168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which Airbnb hosts to retain — and what it's worth to keep them.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01168" y="43434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Majeed ·  Purdue University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0" y="914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1,312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594360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4360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355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594360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recommended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43600" y="3383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9.6×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594360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spend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65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868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Airbnb host that leaves takes their revenue with them — permanently.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534924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5349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3258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earns 15% of every booking. If a host leaves, that revenue stream disappears.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1,312 new-market properties, which ones should receive a $1,000 retaining gift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maximise net profit — not just save the most hosts?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78892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278892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8803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at risk of leaving?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14400" y="31729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attrition probability per property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352044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65760" y="352044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033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611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each property worth?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4400" y="39044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annual profit contribution to Airbnb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65760" y="425196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65760" y="425196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34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4343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the gift pay for itself?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14400" y="46360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property-specific break-even threshold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108192" y="457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108192" y="914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5,247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6108192" y="1371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properties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108192" y="1719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1,312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6108192" y="21762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properties to decide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108192" y="25237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$201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6108192" y="29809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rate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108192" y="33284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34" name="Text 28"/>
          <p:cNvSpPr/>
          <p:nvPr/>
        </p:nvSpPr>
        <p:spPr>
          <a:xfrm>
            <a:off x="6108192" y="37856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Airbnb's margin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108192" y="4133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</a:t>
            </a:r>
            <a:endParaRPr lang="en-US" sz="2800" dirty="0"/>
          </a:p>
        </p:txBody>
      </p:sp>
      <p:sp>
        <p:nvSpPr>
          <p:cNvPr id="36" name="Text 30"/>
          <p:cNvSpPr/>
          <p:nvPr/>
        </p:nvSpPr>
        <p:spPr>
          <a:xfrm>
            <a:off x="6108192" y="4590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cost per property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Assumptions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4662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worked with and what we assumed before modelling.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822960"/>
            <a:ext cx="4206240" cy="11430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822960"/>
            <a:ext cx="54864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abb.csv — Training Data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2269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5,247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73736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with known attrition outcomes.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train and cross-validate both models.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00600" y="822960"/>
            <a:ext cx="4206240" cy="11430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00600" y="822960"/>
            <a:ext cx="54864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abb_new.csv — Prediction Data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125200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1,312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1722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market properties — no labels.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decision generated for each one.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2103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VARIABLES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65760" y="2395728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2395728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2450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463040" y="24597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bedrooms, bathrooms, latitude, longitude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2816352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65760" y="2816352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02920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463040" y="2880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averagedailyrateusd (avg nightly rate)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65760" y="323697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65760" y="3236976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292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46304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rating_overall + 6 component ratings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65760" y="365760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65760" y="3657600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02920" y="3712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463040" y="3721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reservationdays1-12 (monthly booking days)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65760" y="4078224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365760" y="4078224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02920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Tenure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463040" y="4142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nmon (months on Airbnb platform)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65760" y="4498848"/>
            <a:ext cx="42062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65760" y="4498848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02920" y="4553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463040" y="4562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did host leave? (training only)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892040" y="2103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892040" y="2395728"/>
            <a:ext cx="39319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892040" y="239572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029200" y="24323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486400" y="24323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 margin is fixed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029200" y="2651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earns exactly 15% of each property's gross revenue.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892040" y="2916936"/>
            <a:ext cx="39319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892040" y="2916936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029200" y="29535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548640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guarantees retention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5029200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gift a property, we assume it stays the full year.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892040" y="3438144"/>
            <a:ext cx="39319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4892040" y="3438144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029200" y="3474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4864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 representative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5029200" y="3694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5,247 training properties reflect the same population as new ones.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4892040" y="3959352"/>
            <a:ext cx="39319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4892040" y="3959352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029200" y="39959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5486400" y="3995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predictable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5029200" y="4215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reservation days proxy for next year's activity.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892040" y="4480560"/>
            <a:ext cx="39319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4892040" y="4480560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5029200" y="4517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5486400" y="4517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selected on profit only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5029200" y="4736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expected dollar profit — not AUC or F1.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Process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777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steps from raw data to a profitable, actionable gift list.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170432"/>
            <a:ext cx="2057400" cy="1600200"/>
          </a:xfrm>
          <a:prstGeom prst="rect">
            <a:avLst/>
          </a:prstGeom>
          <a:solidFill>
            <a:srgbClr val="0F2038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9768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2801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Data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29768" y="20391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5,247 training + 1,312 prediction properties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532888" y="1170432"/>
            <a:ext cx="2057400" cy="1600200"/>
          </a:xfrm>
          <a:prstGeom prst="rect">
            <a:avLst/>
          </a:prstGeom>
          <a:solidFill>
            <a:srgbClr val="0F2038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642616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28016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42616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642616" y="20391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composite rating — 3 new features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4745736" y="1170432"/>
            <a:ext cx="2057400" cy="1600200"/>
          </a:xfrm>
          <a:prstGeom prst="rect">
            <a:avLst/>
          </a:prstGeom>
          <a:solidFill>
            <a:srgbClr val="0F2038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855464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28016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55464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55464" y="20391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attrition rates, segment analysis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6958584" y="1170432"/>
            <a:ext cx="2057400" cy="1600200"/>
          </a:xfrm>
          <a:prstGeom prst="rect">
            <a:avLst/>
          </a:prstGeom>
          <a:solidFill>
            <a:srgbClr val="0F2038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068312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2801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68312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7068312" y="20391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Gradient Boosting comparison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320040" y="2999232"/>
            <a:ext cx="2057400" cy="1600200"/>
          </a:xfrm>
          <a:prstGeom prst="rect">
            <a:avLst/>
          </a:prstGeom>
          <a:solidFill>
            <a:srgbClr val="243557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320040" y="2999232"/>
            <a:ext cx="2057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429768" y="3090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108960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29768" y="3502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CV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29768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expected $ profit — not AUC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2532888" y="2999232"/>
            <a:ext cx="2057400" cy="1600200"/>
          </a:xfrm>
          <a:prstGeom prst="rect">
            <a:avLst/>
          </a:prstGeom>
          <a:solidFill>
            <a:srgbClr val="0F2038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2642616" y="3090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1648" y="3108960"/>
            <a:ext cx="347472" cy="3474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642616" y="3502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2642616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selected: $21.73M vs GBM $21.70M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4745736" y="2999232"/>
            <a:ext cx="2057400" cy="1600200"/>
          </a:xfrm>
          <a:prstGeom prst="rect">
            <a:avLst/>
          </a:prstGeom>
          <a:solidFill>
            <a:srgbClr val="243557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4745736" y="2999232"/>
            <a:ext cx="2057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4855464" y="3090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3108960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855464" y="3502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Rule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4855464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Property-specific p* = $1,000 / annual_profit</a:t>
            </a:r>
            <a:endParaRPr lang="en-US" sz="850" dirty="0"/>
          </a:p>
        </p:txBody>
      </p:sp>
      <p:sp>
        <p:nvSpPr>
          <p:cNvPr id="44" name="Shape 34"/>
          <p:cNvSpPr/>
          <p:nvPr/>
        </p:nvSpPr>
        <p:spPr>
          <a:xfrm>
            <a:off x="6958584" y="2999232"/>
            <a:ext cx="2057400" cy="1600200"/>
          </a:xfrm>
          <a:prstGeom prst="rect">
            <a:avLst/>
          </a:prstGeom>
          <a:solidFill>
            <a:srgbClr val="243557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6958584" y="2999232"/>
            <a:ext cx="2057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/>
          <p:nvPr/>
        </p:nvSpPr>
        <p:spPr>
          <a:xfrm>
            <a:off x="7068312" y="30906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7344" y="3108960"/>
            <a:ext cx="347472" cy="34747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068312" y="3502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7068312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 gifts recommended, $3.41M net profit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Innovation: Property-Specific Decision Rule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50392" y="465061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cutoff for every property — a different bar for each one, based on what they're worth.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822960"/>
            <a:ext cx="416052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822960"/>
            <a:ext cx="4160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932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DECISION RULE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2920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Gift if: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14813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P(attritionᵢ) &gt; pᵢ*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0292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pᵢ* = $1,000 / πᵢ  (annual profit)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850392"/>
            <a:ext cx="4059936" cy="3931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5760" y="2395728"/>
            <a:ext cx="1417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65760" y="2395728"/>
            <a:ext cx="141732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38912" y="248716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$3K profit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38912" y="28163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438912" y="34290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38912" y="373075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justified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920240" y="2395728"/>
            <a:ext cx="1417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1920240" y="2395728"/>
            <a:ext cx="1417320" cy="54864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993392" y="248716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 profit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993392" y="28163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200" dirty="0"/>
          </a:p>
        </p:txBody>
      </p:sp>
      <p:sp>
        <p:nvSpPr>
          <p:cNvPr id="26" name="Text 22"/>
          <p:cNvSpPr/>
          <p:nvPr/>
        </p:nvSpPr>
        <p:spPr>
          <a:xfrm>
            <a:off x="1993392" y="34290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993392" y="373075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bar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474720" y="2395728"/>
            <a:ext cx="1417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474720" y="2395728"/>
            <a:ext cx="1417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547872" y="248716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 profit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547872" y="28163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</a:t>
            </a:r>
            <a:endParaRPr lang="en-US" sz="3200" dirty="0"/>
          </a:p>
        </p:txBody>
      </p:sp>
      <p:sp>
        <p:nvSpPr>
          <p:cNvPr id="32" name="Text 28"/>
          <p:cNvSpPr/>
          <p:nvPr/>
        </p:nvSpPr>
        <p:spPr>
          <a:xfrm>
            <a:off x="3547872" y="34290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547872" y="373075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automatic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Comparison: RF vs. Gradient Boosting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457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cross-validated profit — not accuracy, not AUC. The only metric that matters here is money.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804672"/>
            <a:ext cx="4937760" cy="4041648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832104"/>
            <a:ext cx="4882896" cy="3931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32120" y="804672"/>
            <a:ext cx="32918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532120" y="804672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50992" y="841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$21.73M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903720" y="896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650992" y="1307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400 decision trees. Handles non-linear relationships between ratings, rates, and geography.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5532120" y="1810512"/>
            <a:ext cx="32918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532120" y="1810512"/>
            <a:ext cx="54864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650992" y="18470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$21.70M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90372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650992" y="2313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 method. Strong baseline but marginally outperformed by RF on this dataset.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5532120" y="2816352"/>
            <a:ext cx="32918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532120" y="2816352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650992" y="28712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profit-based CV?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650992" y="3319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metrics (AUC, F1) optimise classification — not profit. A model that correctly identifies low-value attritors but misses high-value ones is useless for this problem.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5532120" y="3822192"/>
            <a:ext cx="32918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532120" y="3822192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650992" y="38587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+$30,942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90372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 advantage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650992" y="4325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 absolute terms, but this is the correct selection criterion. Both models are strong — RF wins on the margin that matters.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Decision Results — 1,312 Properties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4480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properties justify intervention much more readily — 97.6% of &gt;$100K revenue properties received a gift.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804672"/>
            <a:ext cx="4937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832104"/>
            <a:ext cx="4882896" cy="2514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352044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547872"/>
            <a:ext cx="4882896" cy="12801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532120" y="804672"/>
            <a:ext cx="3291840" cy="978408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5532120" y="804672"/>
            <a:ext cx="54864" cy="9784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650992" y="859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355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5650992" y="13350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 gifted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650992" y="1554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all 1,312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532120" y="1874520"/>
            <a:ext cx="3291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532120" y="1874520"/>
            <a:ext cx="54864" cy="9784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650992" y="1929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957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5650992" y="2404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gift needed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650992" y="26243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— not cost-effective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532120" y="2944368"/>
            <a:ext cx="3291840" cy="978408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532120" y="2944368"/>
            <a:ext cx="54864" cy="9784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650992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$367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5650992" y="34747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daily rate (gifted)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50992" y="36941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$139 for non-gifted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532120" y="4014216"/>
            <a:ext cx="329184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532120" y="4014216"/>
            <a:ext cx="54864" cy="9784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650992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5650992" y="4544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advantage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650992" y="4764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Gifted props earn 2.5× more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$3.4M Return — Net Profit Breakdown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4571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$355,000 invested in retention gifts generates an estimated $3,409,576 net profit.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804672"/>
            <a:ext cx="5349240" cy="402336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832104"/>
            <a:ext cx="5294376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804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DETAIL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897880" y="1115568"/>
            <a:ext cx="292608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897880" y="1115568"/>
            <a:ext cx="54864" cy="548640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35040" y="1252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Gifted properties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772400" y="1252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355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97880" y="1737360"/>
            <a:ext cx="292608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97880" y="1737360"/>
            <a:ext cx="54864" cy="548640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03504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from gifted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77240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$2,234,706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897880" y="2359152"/>
            <a:ext cx="292608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897880" y="2359152"/>
            <a:ext cx="54864" cy="548640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035040" y="2496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from non-gifted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772400" y="24963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$1,532,870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897880" y="2980944"/>
            <a:ext cx="292608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897880" y="2980944"/>
            <a:ext cx="54864" cy="548640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035040" y="3118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retained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772400" y="31181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$3,767,576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897880" y="3602736"/>
            <a:ext cx="292608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897880" y="3602736"/>
            <a:ext cx="54864" cy="548640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035040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gift cost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772400" y="3739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($355,000)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897880" y="4224528"/>
            <a:ext cx="292608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897880" y="4224528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035040" y="4361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7772400" y="4361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$3,409,576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897880" y="4663440"/>
            <a:ext cx="292608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5943600" y="4690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9.6× return on $355K investment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This Project Useful For?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777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project answers is universal — which customers are worth how much effort?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0040" y="1143000"/>
            <a:ext cx="4251960" cy="171907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143000"/>
            <a:ext cx="4251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4632" y="1307592"/>
            <a:ext cx="45720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3441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9848" y="12710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Management / Strategy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69848" y="16002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Airbnb, Uber, DoorDash, Booking.com, any two-sided marketplace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84632" y="1920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platform managing a supply side — hosts, drivers, restaurants — faces this exact problem. Who is at risk of leaving, what are they worth, and does the retention cost pay off?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4800600" y="1143000"/>
            <a:ext cx="4251960" cy="171907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00600" y="1143000"/>
            <a:ext cx="4251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965192" y="1307592"/>
            <a:ext cx="45720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34416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50408" y="12710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Success &amp; Retention Roles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550408" y="16002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subscription, membership businesses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965192" y="1920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warrant a dedicated call? Which ones get a discount offer? Which ones do you let churn? This project builds a systematic answer rather than relying on gut feel.</a:t>
            </a: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320040" y="3017520"/>
            <a:ext cx="4251960" cy="171907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20040" y="3017520"/>
            <a:ext cx="4251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84632" y="3182112"/>
            <a:ext cx="45720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21868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9848" y="31455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&amp; Performance Agencies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069848" y="34747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companies, independent agencies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484632" y="3794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asks 'where should we focus our retention budget?' — this is the analytical framework. Not 'keep everyone,' but 'intervene only where the expected return justifies the spend.'</a:t>
            </a:r>
            <a:endParaRPr lang="en-US" sz="920" dirty="0"/>
          </a:p>
        </p:txBody>
      </p:sp>
      <p:sp>
        <p:nvSpPr>
          <p:cNvPr id="28" name="Shape 22"/>
          <p:cNvSpPr/>
          <p:nvPr/>
        </p:nvSpPr>
        <p:spPr>
          <a:xfrm>
            <a:off x="4800600" y="3017520"/>
            <a:ext cx="4251960" cy="1719072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800600" y="3017520"/>
            <a:ext cx="42519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965192" y="3182112"/>
            <a:ext cx="45720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21868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50408" y="31455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&amp; Loyalty Strategy Advisors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550408" y="34747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Consulting, brand teams, marketing analytics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4965192" y="3794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value, predict risk, intervene where the math says to. The same decision logic applies to hotel guests, retail customers, loyalty members — any repeat-revenue context.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2286000" cy="7543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Is Applied in Industry Practice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47420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— predict risk, quantify value, intervene selectively — runs inside most major platform businesses today.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822960"/>
            <a:ext cx="281635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0040" y="822960"/>
            <a:ext cx="281635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" y="822960"/>
            <a:ext cx="54864" cy="4023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8869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Marketplaces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" y="1325880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6072" y="1353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— host retention (this project)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29768" y="1801368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— driver churn prediction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29768" y="2276856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6072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 — restaurant partner retention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29768" y="2752344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6072" y="2779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/ eBay — seller attrition modelling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429768" y="3337560"/>
            <a:ext cx="2606040" cy="36576"/>
          </a:xfrm>
          <a:prstGeom prst="rect">
            <a:avLst/>
          </a:prstGeom>
          <a:solidFill>
            <a:srgbClr val="E2DAD0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29768" y="3456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29768" y="36758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model: predict who's at risk, calculate what they're worth, decide whether intervention ROI is positive.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64408" y="822960"/>
            <a:ext cx="281635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64408" y="822960"/>
            <a:ext cx="281635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264408" y="822960"/>
            <a:ext cx="54864" cy="4023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01568" y="8869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&amp; Subscriptions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74136" y="1325880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520440" y="1353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— customer health scores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3374136" y="1801368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520440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— churn risk dashboards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3374136" y="2276856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520440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— cancel propensity models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3374136" y="2752344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520440" y="2779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— premium subscription retention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3374136" y="3337560"/>
            <a:ext cx="2606040" cy="36576"/>
          </a:xfrm>
          <a:prstGeom prst="rect">
            <a:avLst/>
          </a:prstGeom>
          <a:solidFill>
            <a:srgbClr val="E2DAD0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374136" y="3456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3374136" y="36758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Propensity-to-churn scores power automated outreach, discount triggers, and CSM prioritisation queues.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208776" y="822960"/>
            <a:ext cx="281635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208776" y="822960"/>
            <a:ext cx="2816352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208776" y="822960"/>
            <a:ext cx="54864" cy="4023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345936" y="8869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Services &amp; Retail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318504" y="1325880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464808" y="1353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— account closure prediction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6318504" y="1801368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464808" y="1828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— spend lapse models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6318504" y="2276856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464808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— loyalty programme attrition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6318504" y="2752344"/>
            <a:ext cx="54864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464808" y="2779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— policy non-renewal risk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6318504" y="3337560"/>
            <a:ext cx="2606040" cy="36576"/>
          </a:xfrm>
          <a:prstGeom prst="rect">
            <a:avLst/>
          </a:prstGeom>
          <a:solidFill>
            <a:srgbClr val="E2DAD0"/>
          </a:solidFill>
          <a:ln w="12700">
            <a:solidFill>
              <a:srgbClr val="E2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318504" y="3456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6318504" y="36758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math, different intervention: a call, a fee waiver, a personalised offer — calibrated to expected lifetime value.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6888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0332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7220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0664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41080" y="0"/>
            <a:ext cx="822960" cy="4251960"/>
          </a:xfrm>
          <a:prstGeom prst="rect">
            <a:avLst/>
          </a:prstGeom>
          <a:solidFill>
            <a:srgbClr val="243557">
              <a:alpha val="22000"/>
            </a:srgbClr>
          </a:solidFill>
          <a:ln w="12700">
            <a:solidFill>
              <a:srgbClr val="24355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114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customer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worth the same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effort.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tells you which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ones are.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$3.41M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net profit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03320" y="4315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4754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gifted of 1,312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92240" y="4315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9.6×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47548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Majeed  ·  Purdue University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1209</Words>
  <Application>Microsoft Macintosh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$3.4M Retention Decision — Airbnb Host Attrition</dc:title>
  <dc:subject>PptxGenJS Presentation</dc:subject>
  <dc:creator>PptxGenJS</dc:creator>
  <cp:lastModifiedBy>Sana Majeed</cp:lastModifiedBy>
  <cp:revision>2</cp:revision>
  <dcterms:created xsi:type="dcterms:W3CDTF">2026-03-28T22:03:39Z</dcterms:created>
  <dcterms:modified xsi:type="dcterms:W3CDTF">2026-03-28T22:16:06Z</dcterms:modified>
</cp:coreProperties>
</file>